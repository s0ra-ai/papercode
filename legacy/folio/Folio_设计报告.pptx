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68"/>
                </a:solidFill>
                <a:latin typeface="微软雅黑"/>
              </a:rPr>
              <a:t>Folio：TUI 原生学术论文生成引擎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04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E06C2A"/>
                </a:solidFill>
                <a:latin typeface="微软雅黑"/>
              </a:rPr>
              <a:t>详细技术报告 · 架构 / 数据流 / 算法 / 工程实现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760000"/>
            <a:ext cx="104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06060"/>
                </a:solidFill>
                <a:latin typeface="微软雅黑"/>
              </a:rPr>
              <a:t>项目语言：Python 3.11+   |   许可证：MPL-2.0（代码）/ MIT（生成稿）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 · 系统定位与问题定义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5400000" cy="2268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业务输入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模糊研究主题，如“写一篇 diffusion model 综述”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期刊样例 PDF / 模板 / 投稿规范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用户偏好：语言、字数、受众、作者画像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可选：数据集、已有参考文献、附加要求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2000" y="1080000"/>
            <a:ext cx="5400000" cy="2268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核心输出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结构完整的学术论文草稿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格式合规的 LaTeX / PDF / DOCX 产物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BibTeX / 引用核验结果 / 审计轨迹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可恢复运行状态与阶段级快照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3708000"/>
            <a:ext cx="11232000" cy="2088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设计目标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TUI 原生交互：像 Copilot CLI 一样在本地终端完成全部工作流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纯域核心：业务决策放在 app/core，界面层只展示状态和转发事件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可替换基础设施：Provider / MCP Tool / Docker Sandbox / SQLite / Trace 解耦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可验证与可追责：所有 LLM 调用、引用、事实检查都有 trace 与 provenance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2 · 总体分层架构图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080000"/>
            <a:ext cx="10440000" cy="846000"/>
          </a:xfrm>
          <a:prstGeom prst="rect">
            <a:avLst/>
          </a:prstGeom>
          <a:solidFill>
            <a:srgbClr val="DDE7F5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表现层 app/tui/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Textual + Rich；事件驱动；只负责渲染状态、收集输入、触发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034000"/>
            <a:ext cx="10440000" cy="846000"/>
          </a:xfrm>
          <a:prstGeom prst="rect">
            <a:avLst/>
          </a:prstGeom>
          <a:solidFill>
            <a:srgbClr val="CBDCF0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编排层 app/core/orchestrator/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sequential / parallel / survey；统一调度 stage，负责重试、路由、恢复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88000"/>
            <a:ext cx="10440000" cy="846000"/>
          </a:xfrm>
          <a:prstGeom prst="rect">
            <a:avLst/>
          </a:prstGeom>
          <a:solidFill>
            <a:srgbClr val="B7CDE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阶段层 app/core/stages/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format / outline / draft / cite_fetch / verify_refs / export_* 等纯业务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942000"/>
            <a:ext cx="10440000" cy="846000"/>
          </a:xfrm>
          <a:prstGeom prst="rect">
            <a:avLst/>
          </a:prstGeom>
          <a:solidFill>
            <a:srgbClr val="A1BEE3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契约层 app/core/contract/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StageMessage + StageRecord + Capability；所有阶段共享统一消息协议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896000"/>
            <a:ext cx="10440000" cy="846000"/>
          </a:xfrm>
          <a:prstGeom prst="rect">
            <a:avLst/>
          </a:prstGeom>
          <a:solidFill>
            <a:srgbClr val="8BAEDC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基础设施层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providers / tools / sandbox / persistence / observability / config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0000" y="1926000"/>
            <a:ext cx="0" cy="108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0000" y="2880000"/>
            <a:ext cx="0" cy="108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0000" y="3834000"/>
            <a:ext cx="0" cy="108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0000" y="4788000"/>
            <a:ext cx="0" cy="108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3 · 核心契约：StageMessage 与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5472000" cy="4140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StageMessage（阶段唯一流通货币）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run_id：整次运行的唯一标识，便于 trace / checkpoint 关联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created_at：创建时间，构成运行时间轴基线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payload: dict[str, Any]：阶段间共享的数据面，如 clarify / outline / draft / citations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history: list[StageRecord]：每个 stage 的执行记录，含模型、token、cost、备注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with_record()：通过 copy-on-write 追加 history，避免篡改先前阶段记录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validate()：Pydantic round-trip 校验，保证跨 stage 数据仍满足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0000" y="1080000"/>
            <a:ext cx="5472000" cy="4140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Capability（Provider 能力侧写）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label / base_url / default_model：端点身份信息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available_models：端点可用模型集合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flags：CHAT / STREAM / TOOLS / EMBEDDINGS / JSON_SCHEMA / VISION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context_window：上下文窗大小，供 long_ctx 打分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probed_at / last_error：启动探测时间与异常状态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supports(flag)：供路由器快速判断端点特征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5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3A68"/>
                </a:solidFill>
                <a:latin typeface="微软雅黑"/>
              </a:rPr>
              <a:t>设计含义：StageMessage 解决“数据如何在阶段间安全流动”，Capability 解决“哪个模型更适合当前阶段”。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4 · 运行时数据流 / 控制流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800000"/>
            <a:ext cx="1512000" cy="792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用户 / CLI / TUI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2000" y="1800000"/>
            <a:ext cx="1512000" cy="792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4000" y="1800000"/>
            <a:ext cx="1512000" cy="792000"/>
          </a:xfrm>
          <a:prstGeom prst="round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6000" y="1224000"/>
            <a:ext cx="1512000" cy="792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ProviderRegistry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76000" y="2376000"/>
            <a:ext cx="1512000" cy="792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Tools / Sandbox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2000" y="1224000"/>
            <a:ext cx="1512000" cy="792000"/>
          </a:xfrm>
          <a:prstGeom prst="round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Trace JSONL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2000" y="2376000"/>
            <a:ext cx="1512000" cy="792000"/>
          </a:xfrm>
          <a:prstGeom prst="round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SQLite Checkpoint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96000" y="1800000"/>
            <a:ext cx="1512000" cy="792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Artifacts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2000" y="2196000"/>
            <a:ext cx="360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44000" y="2196000"/>
            <a:ext cx="360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16000" y="1620000"/>
            <a:ext cx="360000" cy="360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16000" y="2412000"/>
            <a:ext cx="360000" cy="360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88000" y="1620000"/>
            <a:ext cx="864000" cy="0"/>
          </a:xfrm>
          <a:prstGeom prst="line">
            <a:avLst/>
          </a:prstGeom>
          <a:ln w="25400">
            <a:solidFill>
              <a:srgbClr val="3C8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88000" y="2772000"/>
            <a:ext cx="864000" cy="0"/>
          </a:xfrm>
          <a:prstGeom prst="line">
            <a:avLst/>
          </a:prstGeom>
          <a:ln w="25400">
            <a:solidFill>
              <a:srgbClr val="3C8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88000" y="2196000"/>
            <a:ext cx="2808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0000" y="3671999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1. 用户从 TUI 提交主题或模板，TUI 只把事件转交给 orchestrator。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2. orchestrator 构造 StageMessage，并逐阶段调用 stage.run(...)。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3. stage 需要 LLM 时，经 ProviderRegistry 选择 provider；需要外部能力时调用 MCP Tool 或 Docker Sandbox。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4. 每次 LLM 调用写 TraceEvent 到 JSONL；每个阶段可把输入/输出 StageMessage 成对落入 SQLite checkpoint。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5. 最终 artifacts 为论文正文、BibTeX、验证结果与导出产物。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5 · 端到端核心流水线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475999"/>
            <a:ext cx="1475999" cy="1188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intent / clarify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识别主题、补齐字段、决定是否继续追问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6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98000" y="1475999"/>
            <a:ext cx="1475999" cy="1188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format_stage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抽取版式、引用风格、章节结构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8000" y="1475999"/>
            <a:ext cx="1475999" cy="1188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outline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生成章节树与写作计划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8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18000" y="1475999"/>
            <a:ext cx="1475999" cy="1188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draft / refine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逐节成稿并按反馈修订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9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28000" y="1475999"/>
            <a:ext cx="1475999" cy="1188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cite_fetch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补齐引用元数据与 bib 条目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0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38000" y="1475999"/>
            <a:ext cx="1475999" cy="1188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verify_refs / fact_verify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检查真实性、可访问性、事实一致性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13999" y="2069999"/>
            <a:ext cx="198001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48000" y="1475999"/>
            <a:ext cx="1475999" cy="1188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export_latex / pdf / docx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生成论文文件与最终工件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3311999"/>
            <a:ext cx="11160000" cy="2448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流水线控制特征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统一签名：绝大多数 stage 形如 async run(msg: StageMessage, registry=...) -&gt; StageMessage。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sequential.py 负责主链路顺序驱动；parallel.py 用于综述类任务的分支并发；survey.py 管理 survey 专用流程。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format / export 等可利用 stage_cache 与 snapshot_runner，减少重复成本。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• 失败时可依据 checkpoint 回到某个 stage 的输入/输出对继续执行，而不是整条链路重跑。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6 · 模块协同架构图（核心运行面）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80000"/>
            <a:ext cx="2376000" cy="864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TUI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commands.py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progress.py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task_panel.py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96000" y="1080000"/>
            <a:ext cx="2700000" cy="864000"/>
          </a:xfrm>
          <a:prstGeom prst="round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Orchestrator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sequential.py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parallel.py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survey.py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2000" y="1080000"/>
            <a:ext cx="3024000" cy="864000"/>
          </a:xfrm>
          <a:prstGeom prst="round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Stages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format / outline / draft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cite / verify /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76000" y="1080000"/>
            <a:ext cx="1872000" cy="864000"/>
          </a:xfrm>
          <a:prstGeom prst="round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Contract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StageMessage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2520000"/>
            <a:ext cx="2772000" cy="1080000"/>
          </a:xfrm>
          <a:prstGeom prst="rect">
            <a:avLst/>
          </a:prstGeom>
          <a:solidFill>
            <a:srgbClr val="E9F1FF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Provider 子系统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registry.py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factory.py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sama.py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failover.py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4000" y="2520000"/>
            <a:ext cx="2772000" cy="1080000"/>
          </a:xfrm>
          <a:prstGeom prst="rect">
            <a:avLst/>
          </a:prstGeom>
          <a:solidFill>
            <a:srgbClr val="FFF3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Tool / Sandbox 子系统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tools/* (MCP)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sandbox/runner.py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sandbox/replay_runner.py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8000" y="2520000"/>
            <a:ext cx="2772000" cy="1080000"/>
          </a:xfrm>
          <a:prstGeom prst="rect">
            <a:avLst/>
          </a:prstGeom>
          <a:solidFill>
            <a:srgbClr val="E9F5EC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Persistence 子系统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db.py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checkpoint.py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snapshots.py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transcript.py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32000" y="2520000"/>
            <a:ext cx="2160000" cy="1080000"/>
          </a:xfrm>
          <a:prstGeom prst="rect">
            <a:avLst/>
          </a:prstGeom>
          <a:solidFill>
            <a:srgbClr val="F1EEFF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Observability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trace.py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pricing.py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微软雅黑"/>
              </a:rPr>
              <a:t>• llm_call_history.py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6000" y="1512000"/>
            <a:ext cx="360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96000" y="1512000"/>
            <a:ext cx="396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16000" y="1512000"/>
            <a:ext cx="360000" cy="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28000" y="1944000"/>
            <a:ext cx="5760000" cy="576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752000" y="1944000"/>
            <a:ext cx="2808000" cy="576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2000" y="1944000"/>
            <a:ext cx="144000" cy="576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03999" y="1944000"/>
            <a:ext cx="2808001" cy="576000"/>
          </a:xfrm>
          <a:prstGeom prst="line">
            <a:avLst/>
          </a:prstGeom>
          <a:ln w="25400">
            <a:solidFill>
              <a:srgbClr val="E06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0000" y="4031999"/>
            <a:ext cx="11160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交互面（TUI）与决策面（core）完全解耦，核心流程由 orchestrator 驱动 stage 链并向下调用 provider/tool/persistence/trace。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微软雅黑"/>
              </a:rPr>
              <a:t>Contract 层通过 StageMessage 统一了跨模块边界，避免上层直接依赖底层实现细节，实现低耦合和可替换。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7 · 目标场景与 MVP（M1）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06C2A"/>
                </a:solidFill>
                <a:latin typeface="微软雅黑"/>
              </a:rPr>
              <a:t>北极星 Demo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用户拖入一篇 IEEE 样例 PDF + 主题 “transformer 时序预测” →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Folio 询问 3–5 个澄清问题 → 抽取 IEEE 格式 → 生成 8 页论文 + 已核验引用 → 导出 .tex / .pdf。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E06C2A"/>
                </a:solidFill>
                <a:latin typeface="微软雅黑"/>
              </a:rPr>
              <a:t>里程碑路线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M0 引导（项目骨架、契约、CI、TUI hello）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M1 format_to_paper 端到端薄切片（当前已贯通）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M2 多 Provider 路由 + 深度澄清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M3 Docker 沙箱代码实验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M4 全溯源 + 抄袭自检 + 审计导出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M5 打包发行、配置向导、文档站、样例画廊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8 · 技术栈与硬约束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E06C2A"/>
                </a:solidFill>
                <a:latin typeface="微软雅黑"/>
              </a:rPr>
              <a:t>技术栈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语言：Python 3.11+，包管理：uv（lock 文件锁版本）。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TUI：Textual + Rich（async 事件循环，支持流式输出）。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持久化：SQLite + Alembic；存储根 ~/.folio/。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代码执行：Docker 沙箱（tectonic 编译 LaTeX、隔离用户实验）。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外部能力：MCP Client（fetch / arxiv / playwright / context7 …）。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E06C2A"/>
                </a:solidFill>
                <a:latin typeface="微软雅黑"/>
              </a:rPr>
              <a:t>硬约束（AGENTS.md）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TUI 哑端；所有 LLM 调用必须经 ProviderRegistry。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跨阶段值统一为 StageMessage，禁止裸 dict / str。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每次 LLM 调用必写 trace 记录；运行时不允许 MockProvider。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Provider 层供应商无关：唯一适配器 OpenAICompatibleProvider（OpenAI Chat Completions v1）。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6 · 算法一：渐进式澄清（Clarify）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11160000" cy="684000"/>
          </a:xfrm>
          <a:prstGeom prst="roundRect">
            <a:avLst/>
          </a:prstGeom>
          <a:solidFill>
            <a:srgbClr val="F7FAFF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ctr"/>
            <a:r>
              <a:rPr sz="1900" b="1">
                <a:solidFill>
                  <a:srgbClr val="1F3A68"/>
                </a:solidFill>
                <a:latin typeface="Cambria Math"/>
              </a:rPr>
              <a:t>stop ⇔ (min_{f∈must_have} conf(f) ≥ τ_f) ∧ (coverage &gt; τ_c) ∧ (H(gap) &lt; τ_e)</a:t>
            </a:r>
          </a:p>
          <a:p>
            <a:pPr algn="ctr"/>
            <a:r>
              <a:rPr sz="1200" b="0">
                <a:solidFill>
                  <a:srgbClr val="606060"/>
                </a:solidFill>
                <a:latin typeface="微软雅黑"/>
              </a:rPr>
              <a:t>coverage = mean(conf),  gap = 1 - conf,  H 为归一化 Shannon 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655999"/>
            <a:ext cx="5220000" cy="3600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真实停止条件（app/core/clarify/entropy.py）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每个字段有置信度 f∈[0,1]：未知=0.0，用户画像预填=0.4，用户显式回答=1.0。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coverage = mean(f)；表示整体信息覆盖率。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gap = 1-f；对 gap 分布计算归一化 Shannon 熵。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must_have 字段若任意低于 tau_f，则继续追问。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若 coverage &lt;= tau_c，则继续追问。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若 entropy &gt;= tau_e，则说明“多个字段都还不确定”，继续追问。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默认阈值：tau_e=0.7, tau_f=0.3, tau_c=0.6。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0" y="1655999"/>
            <a:ext cx="5472000" cy="3600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状态机示意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状态 A：字段稀缺，进入 ClarifyModal 逐步追问。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状态 B：有些字段来自 profile，可信但未确认。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状态 C：关键信息补齐，coverage 上升，entropy 下降。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状态 D：达到 should_stop=True，切到 format / outline。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next_question.py 负责找“信息增益最大”的下一个问题。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好处：避免固定问卷式交互，最少问题数就能到达可执行状态。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472000"/>
            <a:ext cx="11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3A68"/>
                </a:solidFill>
                <a:latin typeface="微软雅黑"/>
              </a:rPr>
              <a:t>算法本质：不是“问满固定字段再继续”，而是根据不确定性分布动态决定是否继续问，从而兼顾交互成本与信息充分性。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7 · 算法二：SAMA 模型分配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11160000" cy="684000"/>
          </a:xfrm>
          <a:prstGeom prst="roundRect">
            <a:avLst/>
          </a:prstGeom>
          <a:solidFill>
            <a:srgbClr val="F7FAFF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ctr"/>
            <a:r>
              <a:rPr sz="1900" b="1">
                <a:solidFill>
                  <a:srgbClr val="1F3A68"/>
                </a:solidFill>
                <a:latin typeface="Cambria Math"/>
              </a:rPr>
              <a:t>score(stage,p) = Σ_i w_stage[i]·v_p[i] − λ_cost·cost_norm(p)</a:t>
            </a:r>
          </a:p>
          <a:p>
            <a:pPr algn="ctr"/>
            <a:r>
              <a:rPr sz="1200" b="0">
                <a:solidFill>
                  <a:srgbClr val="606060"/>
                </a:solidFill>
                <a:latin typeface="微软雅黑"/>
              </a:rPr>
              <a:t>i ∈ {chat, code, long_ctx, speed, cost_axis};  route(stage)=argmax_p score(stage,p)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655999"/>
            <a:ext cx="5580000" cy="3456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真实打分模型（app/providers/sama.py）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Capability 先映射为 5 维轴：chat / code / long_ctx / speed / cost。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chat：支持 CHAT 记 1.0，否则 0.0。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code：支持 TOOLS 记 0.8，否则 0.5。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long_ctx：context_window / 128000 截断到 [0,1]。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speed：支持 STREAM 记 0.8，否则 0.4。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cost 轴不直接放进向量，而由 lambda_cost 单独惩罚。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score = w_stage · v(provider) - lambda_cost * normalized_cost。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655999"/>
            <a:ext cx="5112000" cy="3456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Stage 权重差异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format: (0.7, 0.4, 0.9, 0.4, 0.0) 重视长上下文与对话。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clarify: (0.9, 0.2, 0.4, 0.8, 0.0) 重视对话与响应速度。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draft: (0.9, 0.4, 0.9, 0.3, 0.0) 重视对话质量与长上下文。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code: (0.5, 0.95, 0.7, 0.5, 0.0) 明显偏向代码能力。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fact_verify: (0.8, 0.3, 0.7, 0.6, 0.0) 强调稳定推理与速度。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无候选时抛 NoCandidatesError；未配置 stage 则抛 StageNotConfiguredError。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292000"/>
            <a:ext cx="111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3A68"/>
                </a:solidFill>
                <a:latin typeface="微软雅黑"/>
              </a:rPr>
              <a:t>工程价值：把“模型选择”从业务 stage 内部拿出来，收敛为纯函数路由问题，既可解释，也便于后续扩展多 provider。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9 · SAMA 数值化示例（可解释路由）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846000"/>
            <a:ext cx="11160000" cy="684000"/>
          </a:xfrm>
          <a:prstGeom prst="roundRect">
            <a:avLst/>
          </a:prstGeom>
          <a:solidFill>
            <a:srgbClr val="F7FAFF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ctr"/>
            <a:r>
              <a:rPr sz="1900" b="1">
                <a:solidFill>
                  <a:srgbClr val="1F3A68"/>
                </a:solidFill>
                <a:latin typeface="Cambria Math"/>
              </a:rPr>
              <a:t>score = dot(w_stage, v_provider) - λ·cost_norm</a:t>
            </a:r>
          </a:p>
          <a:p>
            <a:pPr algn="ctr"/>
            <a:r>
              <a:rPr sz="1200" b="0">
                <a:solidFill>
                  <a:srgbClr val="606060"/>
                </a:solidFill>
                <a:latin typeface="微软雅黑"/>
              </a:rPr>
              <a:t>以 stage=code 为例，展示不同 provider 在同一权重下的可解释对比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638000"/>
            <a:ext cx="11160000" cy="1080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评分公式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其中 i ∈ {chat, code, long_ctx, speed, cost_axis}，而 cost_axis 在当前实现中固定 0，由 λ 单独惩罚。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route(stage, candidates) 取 score 最大 provider；如并列由标签稳定排序保证可重复性。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2880000"/>
            <a:ext cx="5508000" cy="2880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输入假设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stage = code，w=(0.5, 0.95, 0.7, 0.5, 0.0)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Provider A: v=(1.0, 0.8, 0.9, 0.8, 0), cost_norm=0.7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Provider B: v=(1.0, 0.5, 1.0, 0.4, 0), cost_norm=0.2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λ=0.3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0" y="2880000"/>
            <a:ext cx="5400000" cy="2880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计算结果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A: dot = 0.5*1.0 + 0.95*0.8 + 0.7*0.9 + 0.5*0.8 = 2.29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A: score = 2.29 - 0.3*0.7 = 2.08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B: dot = 0.5*1.0 + 0.95*0.5 + 0.7*1.0 + 0.5*0.4 = 1.875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B: score = 1.875 - 0.3*0.2 = 1.815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决策：A 胜出；当 λ 上升时，低成本模型将更容易胜出。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8 · 算法三：格式抽取、引用绑定与事实核验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3600000" cy="4140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Format 抽取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输入：样例 PDF、venue_label 或投稿规范。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pdfplumber 先抽正文；若文本缺失，回退 OCR。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prompt 模板 format_extract.j2 驱动 LLM 输出结构化格式规格。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对内置 venue（IEEE/CJC/Springer）可走缓存命中，减少重复调用。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6000" y="1080000"/>
            <a:ext cx="3600000" cy="4140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Cite Fetch / Bind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从 draft 文本中识别候选参考文献和占位 bibkey。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调用 DOI / Crossref / arXiv 等外部数据源补全文献元数据。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生成或绑定 BibTeX 条目，并把 citations 写回 payload。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为后续 verify_refs 与 export_* 准备结构化输入。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2000" y="1080000"/>
            <a:ext cx="3600000" cy="4140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Verify Refs / Fact Verify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verify_refs：检查引用是否真实存在、字段是否可解析。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fact_verify：把论文中的事实表述回投到来源文本做 round-trip 校验。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lenient 模式下，未解析 bibkey 可降级 warning，保证样例回放稳定。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输出 verify_status / verify_warnings 进入最终导出与审计链。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9 · Provider 抽象：统一协议而非厂商分支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5220000" cy="4248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Provider 基类（app/providers/base.py）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chat(request) -&gt; ChatResponse：标准单次补全接口。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stream(request) -&gt; AsyncIterator[str]：标准流式接口。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probe() -&gt; Capability：启动或定期刷新能力侧写。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ChatRequest 统一消息结构、温度、tools、response_format、stream 等参数。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ChatResponse 统一 content / model / token 统计 / raw 响应。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0000" y="1080000"/>
            <a:ext cx="5472000" cy="4248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工程原则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所有模型调用必须经 ProviderRegistry；stage 不直接 import OpenAI/Anthropic SDK。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当前唯一具体适配器是 OpenAICompatibleProvider，所有端点都按 Chat Completions v1 对接。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好处：厂商差异被压缩到 provider 层；上层只关心 ChatRequest / ChatResponse。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failover.py 用于多端点回退；factory.py 根据配置装配 registry。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未来扩展本质是“再接一个符合协议的端点”，而不是侵入每个 stage。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10 · 可观测性与恢复机制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3600000" cy="4031999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Trace JSONL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路径：~/.folio/trace/&lt;YYYY-MM-DD&gt;.jsonl。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字段：run_id / stage / provider_label / model / tokens / cost / latency / hash。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每次 LLM 调用一行，线程内写入有锁。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用于 HUD 成本聚合、问题排查、审计导出。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6000" y="1080000"/>
            <a:ext cx="3600000" cy="4031999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Checkpoint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以 (input_msg, output_msg) 成对保存某 stage 的快照。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字段包括 run_id / stage_name / checkpoint_num / note / created_at。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失败后可以从中间 stage 恢复，而不是整条流水线重跑。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本质上是对 StageMessage 时序状态的持久化。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2000" y="1080000"/>
            <a:ext cx="3600000" cy="4031999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Snapshot / Resume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snapshots.py 与 snapshot_runner.py 管理阶段产物的读取与重放。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CLI/TUI 提供 :resume 与 resume 子命令恢复历史运行。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llm_call_history.py 为界面提供调用历史与成本面板。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这套机制把“实验性 LLM 工作流”变成“可恢复工程系统”。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11 · 测试与可复现性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5580000" cy="3888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Cassette 策略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运行时不允许 MockProvider；测试也不在 CI 真打线上 LLM。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采用 pytest-recording / vcrpy，一次录制，多次回放。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FOLIO_TEST_RECORD_MODE=true 时允许录制；默认 record_mode='none'。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缺 cassette 直接失败，防止 CI 偷偷联网。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0000" y="1080000"/>
            <a:ext cx="5472000" cy="3888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样例画廊 / 黄金回归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scripts/build_sample_gallery.py 会用已录好的 e2e cassette 重新生成 examples/&lt;demo&gt;/expected。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冻结产物包括 LaTeX bundle 与 payload.json；用于回归比对。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因为回放是确定性的，重复执行应得到字节级稳定产物。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这保证了“论文生成”这种高波动任务也能纳入工程化回归测试。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5256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3A68"/>
                </a:solidFill>
                <a:latin typeface="微软雅黑"/>
              </a:rPr>
              <a:t>可复现性核心不只是测试通过，而是任何一次重要 LLM 交互都能被重放、追踪和解释。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13 · 复杂度与可靠性设计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3600000" cy="4248000"/>
          </a:xfrm>
          <a:prstGeom prst="rect">
            <a:avLst/>
          </a:prstGeom>
          <a:solidFill>
            <a:srgbClr val="DAE7F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时间复杂度（高层）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串行编排：O(N_stage) 次 stage 调用。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SAMA 路由：每个 stage 对 K 个候选评分，O(K)。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澄清循环：O(Q) 次问答，Q 由熵收敛速度决定。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引用核验：O(R) 文献条目处理，R 为引用数。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总体近似：O(N_stage*K + Q + R)。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6000" y="1080000"/>
            <a:ext cx="3600000" cy="4248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失败恢复机制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Provider failover：端点级回退，避免单点 provider 故障中断。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checkpoint：按 stage 保存输入/输出对，支持中断续跑。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snapshot/replay：阶段结果重放，降低重算成本。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lenient verify：在样例回放场景下将部分错误降级 warning。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cassette replay：CI 不依赖外网，确保稳定。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2000" y="1080000"/>
            <a:ext cx="3600000" cy="4248000"/>
          </a:xfrm>
          <a:prstGeom prst="rect">
            <a:avLst/>
          </a:prstGeom>
          <a:solidFill>
            <a:srgbClr val="E3F1E7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工程权衡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准确率 vs 成本：由 λ_cost 与 stage 权重共同调节。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交互成本 vs 信息充分：由 tau_e/tau_f/tau_c 三阈值平衡。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吞吐 vs 可解释：显式 stage + trace 增加开销但显著提升可审计性。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微软雅黑"/>
              </a:rPr>
              <a:t>• 实现复杂度 vs 扩展性：统一契约与抽象层提高初始复杂度，但降低长期维护成本。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12 · 演进路线与技术价值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11160000" cy="4248000"/>
          </a:xfrm>
          <a:prstGeom prst="rect">
            <a:avLst/>
          </a:prstGeom>
          <a:solidFill>
            <a:srgbClr val="FFEAD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54000"/>
          <a:lstStyle/>
          <a:p>
            <a:pPr algn="ctr"/>
            <a:r>
              <a:rPr sz="1400" b="1">
                <a:solidFill>
                  <a:srgbClr val="1F3A68"/>
                </a:solidFill>
                <a:latin typeface="微软雅黑"/>
              </a:rPr>
              <a:t>为什么这个架构成立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• 把“论文生成”拆成可解释 stage 后，复杂系统被化约成“统一消息 + 可替换执行器 + 外部能力插件”。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• TUI 与核心解耦，保证未来即便换 CLI / Web 前端，也不需要重写业务逻辑。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• Provider 协议统一，避免模型供应商变化导致上层 stage 大面积重构。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• trace + checkpoint + cassette 三件套，分别覆盖在线审计、失败恢复、离线复现。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02020"/>
                </a:solidFill>
                <a:latin typeface="微软雅黑"/>
              </a:rPr>
              <a:t>• 下一阶段重点：M2 多 provider 路由与 profile；M3 代码实验闭环；M4 全量 provenance 与 plagiarism；M5 产品化交付。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</a:rPr>
              <a:t>15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Folio 把“TUI + 纯域核心 + 可替换 Provider/Tool/Sandbox”做到了硬约束级别，避免了 IntelliGen 的耦合教训。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核心抽象只有两件事：StageMessage（数据契约）+ Capability/SAMA（调度契约）。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算法侧：Clarify 决定“是否继续追问”，SAMA 决定“当前阶段用谁做”，Verify 决定“结果是否可信”。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工程侧：cassette 回放 + JSONL trace + SQLite checkpoint 共同保证可复现、可审计、可续跑。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微软雅黑"/>
              </a:rPr>
              <a:t>• 下一步：M2 多 Provider 路由 → M3 沙箱实验 → M4 全溯源 → M5 打包发行。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